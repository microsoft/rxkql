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95" r:id="rId3"/>
    <p:sldId id="256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2" d="100"/>
          <a:sy n="62" d="100"/>
        </p:scale>
        <p:origin x="8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3FE57B-17F0-6DC5-CF8E-488C308ED0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CD8DF-694F-5B95-FF90-BAAD095511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0F054A-DBB5-18F2-DBE6-0262274AB8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4BAE-EC3D-4F4F-9458-3B3FA78EF48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14184-BEA6-05D0-9F44-8B39D8C02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63169E-821F-DC00-9733-38B2930FE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8D44-263E-46B0-B5EA-333501FB6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54802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339969-90E1-D186-6A5D-18149EA406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1C4159-258C-AEFF-8228-C14E622E9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5FCEB1-B18B-30D4-4FC7-B7A7BD88A3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4BAE-EC3D-4F4F-9458-3B3FA78EF48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D0541D6-9044-29EC-CBA6-B41F43F21C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7097A6-2B88-7758-29FA-17BB68E9F1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8D44-263E-46B0-B5EA-333501FB6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5188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09AB7-4D9A-56FF-4D6A-D5DD0B0838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12AC77-FD53-DD8B-FB04-FE4C88F4A1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F3307E-2EFF-1D02-AD20-4A6865DF94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4BAE-EC3D-4F4F-9458-3B3FA78EF48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36AC5A-98C8-406F-2AE3-B11C7673B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3DEF2B-CD75-42E6-4006-0E793C139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8D44-263E-46B0-B5EA-333501FB6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484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2AE2A-CEB7-DF39-DE1F-2CB2FD0A6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7CBFC3-F66B-B6C8-04A2-A140B4F12C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7F5624C-081E-DC75-165F-899292AD77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4F2045-3163-0474-09E5-22C4F05488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4BAE-EC3D-4F4F-9458-3B3FA78EF48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1D1C46-AAEC-E962-2285-0CF73A2DE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FFCCFF-E6D5-1B4E-E1C4-D62F1C58D9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8D44-263E-46B0-B5EA-333501FB6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988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DF5338-E1CE-92DE-1D17-02496E83A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9D3EF-75CA-9783-BA8E-0192BF959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07950B-5211-71D2-F74C-9FD4FD29D3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0BDFBE-54D2-08A1-8BAB-1E4EAF348A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FADC3C5-1CE8-5566-462B-D2CA9125AD0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7F81E36-4004-85FD-EF3E-16CFE09AB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4BAE-EC3D-4F4F-9458-3B3FA78EF48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F962E-D1DA-02B3-CA55-948C3178EF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82F1279-F43D-ABC6-D92D-A29BCAA77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8D44-263E-46B0-B5EA-333501FB6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6227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95B03-ACC4-EA7E-DA41-804D1C9A3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DBE146-C0D0-7AA5-40F2-77AF6AED4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4BAE-EC3D-4F4F-9458-3B3FA78EF48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69C4CD-8B05-5A80-C52F-E34BF9E461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0EB165-7571-DFCD-5B1F-C94DFDE2D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8D44-263E-46B0-B5EA-333501FB6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3176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424E71F-4082-A065-BEFF-71F3080216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4BAE-EC3D-4F4F-9458-3B3FA78EF48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01507F-295A-50C6-1807-5E68E5357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FC468-872D-308E-E0D7-52839D104C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8D44-263E-46B0-B5EA-333501FB6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6720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26288-2196-21C0-CB14-4F2286C3C5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47ED01-9A35-E43F-6C76-D49C1449D4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0496F9-2B4F-5D40-3020-193EA1B045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E0022-4C88-6443-3892-BA0BBCAE2E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4BAE-EC3D-4F4F-9458-3B3FA78EF48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44CAF2-1C65-FA30-55C0-47DADDDB8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C776F71-369D-306A-29A2-B4DEEC73E7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8D44-263E-46B0-B5EA-333501FB6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154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BEB11-17D4-62E2-D17A-BE67278971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74C0E38-F3AC-94B5-C3A7-04301D89E7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87C452-355D-B477-BAED-39B7CC6E9E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070756-5D82-8FF7-2B7F-580EF809A0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4BAE-EC3D-4F4F-9458-3B3FA78EF48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0E8E74-B3AB-F892-20C0-B166B2C73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A166DA-78D4-6EAF-74AC-2310E5C5C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8D44-263E-46B0-B5EA-333501FB6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4455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4A804-04F0-3576-F4F2-2E4930AC36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E59B91-ECED-7A9F-B8AD-E9E8A49EA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769544-FD12-9F18-24DE-8F2F2945C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4BAE-EC3D-4F4F-9458-3B3FA78EF48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4C1A62-EB2F-E708-AA92-94E92C5B8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5D495-DA4E-9C20-CA96-E7943EB25C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8D44-263E-46B0-B5EA-333501FB6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1346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EFCBC7-BA1D-2AE1-2343-6F57B43C83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FCB2F6-AEA8-3642-6826-A0683882A2A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E3658-0A51-4516-12AB-98F87EE70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D4BAE-EC3D-4F4F-9458-3B3FA78EF48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F5059A-B9A6-1474-A6C0-D41EABB92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46737-226F-5845-3730-27B5C72A00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418D44-263E-46B0-B5EA-333501FB6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6432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CE7B0F-086C-1734-7979-22EC8F086F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47FEC4-3111-74C4-4F66-2242380A9C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B6EC22-37F7-9990-AD15-DCCFD68B3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24BEC-6160-4DA3-964D-09F8DFB203D9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B489A0-4CA0-6DFA-0144-9E6715A5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BD0BC5-DA2A-CE19-18E3-C32BE3DCE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277-AFC6-4456-8F95-D0308567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476710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4B38E-CAE1-28E8-BBD4-9669492ED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7BB84D-FCC9-D7C0-A056-2E35D41290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84F769-5FCC-5B81-C01B-2833662042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24BEC-6160-4DA3-964D-09F8DFB203D9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0C845-A2A8-C171-5450-0674C26D4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1471B-AD55-04AE-4EE2-509EB6A87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277-AFC6-4456-8F95-D0308567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8260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570253-F820-EFC5-4713-A9FD5BFE88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E237C2-CED8-C599-6F6C-BEE03CA482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412015-48AC-54E9-020D-6EA7ABB0D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24BEC-6160-4DA3-964D-09F8DFB203D9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65D9B-1A0D-D10F-B55D-C298B4D60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365751-A64C-A77F-4495-0E5D35D52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277-AFC6-4456-8F95-D0308567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6900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878B39-69FD-9226-BA6F-CFF284E0E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F95119-AE1C-8EF6-99CF-43A5C2403C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B578B43-D1B9-3B4E-75C4-2F8189837F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8D993F-FCBC-73B6-39F9-CC45EDD99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24BEC-6160-4DA3-964D-09F8DFB203D9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8EFB42E-C512-C3C2-0A1C-3750D4022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50D16C-AADD-3E63-B3EE-6ED89EE9E0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277-AFC6-4456-8F95-D0308567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2303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7E027-9BBC-1B69-4DA6-98B86A60D9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E0D595-C89F-C5C6-6CF9-2B5E0474D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58A3AF-EE47-1668-6CE7-240AC7F62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C5AB72C-EA41-C295-DDDE-D7B0D6B25C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6EA4816-2C1F-5B62-4480-493CB201E9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7C548B-9CDC-3A87-84B5-CFEF3A4E4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24BEC-6160-4DA3-964D-09F8DFB203D9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9F85A72-0379-A5A9-B44E-8801BF330D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D2978A-9DB2-E747-7E2C-21B885B928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277-AFC6-4456-8F95-D0308567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20022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000843-1B14-4DF1-B8F2-62B62C4E33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CC5CAD4-48F8-E94D-D934-31515A725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24BEC-6160-4DA3-964D-09F8DFB203D9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1F0A89-575A-B368-2DE3-4D5472A264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857451-881B-DC5E-3402-CE93B0591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277-AFC6-4456-8F95-D0308567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6195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22979B-53E0-51C2-815A-4EA87E5B9E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-1457325"/>
            <a:ext cx="10515600" cy="1325562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44C3CD-5E0A-8F8A-97F8-E60B7AF5E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24BEC-6160-4DA3-964D-09F8DFB203D9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4DF34B-2038-7256-ECD1-84DDA218F7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6246F2-0C6E-F625-1C6A-AB98FBDDE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277-AFC6-4456-8F95-D0308567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22962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F6EBFF-6997-B3E1-908B-7C54CCCE23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A9FE1-D24B-C4D0-41A4-103B9975D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C852EB-63F0-DD40-57AB-D08B048EB7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D2D58E-33BA-91F6-BDFE-70831B5FD6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24BEC-6160-4DA3-964D-09F8DFB203D9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E871F6-C976-7E37-5474-E51B8BD42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3AC9C-DF49-C3D0-9002-869942079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277-AFC6-4456-8F95-D0308567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77963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DDDFF1-E7F4-B5F8-3FF6-151CB27DFC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9735816-0F0F-95A9-11AC-867E095C567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C06EF2-9838-B3BE-0AA7-52FD86AE34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F51060-17D5-4AD8-E213-901B1A081A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24BEC-6160-4DA3-964D-09F8DFB203D9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72C12A-DC83-A372-B4F7-7DCB0FAF0A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AC9C81A-FE74-A298-4597-8C69E65B00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277-AFC6-4456-8F95-D0308567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57657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51D24C-8203-CE0D-9BE2-7729ED4FF6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75E96C-5D0A-2038-3BB6-E448124F86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71A9C5-C5D8-AA38-DE17-C18F90601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24BEC-6160-4DA3-964D-09F8DFB203D9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01A67B-17FA-8DF7-1352-1AAE13DF48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83D468-56AD-44AA-7A76-4125B58FFA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277-AFC6-4456-8F95-D0308567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62227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918A27-F29B-C63D-E446-4E42133022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128A6C-43B9-9288-28A3-36C714DDA17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9ABD861-F2B8-7EDD-01C3-D636DF58A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824BEC-6160-4DA3-964D-09F8DFB203D9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57A5E0-387E-9908-E707-221B02A4DF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25921-2BC7-5C34-2043-2DC9DD8149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BAB277-AFC6-4456-8F95-D0308567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33188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307FD1E-CF83-6A72-3DDD-9B125D9CA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E1CAD-922A-34E2-5776-2499029AA2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12D24-E6F1-0303-F412-562B6AA534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7D4BAE-EC3D-4F4F-9458-3B3FA78EF485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A83747-6DF7-463F-89C6-72520405A8A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4C79B-4BE2-0F54-4F20-7AACAA8507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5418D44-263E-46B0-B5EA-333501FB650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203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1CDE3F-08FE-4872-61AE-4818EAD224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5DDCEE-8F38-C18D-4CCD-CB27B21659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73F536-A8BB-F194-05BE-EF4285DDC7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824BEC-6160-4DA3-964D-09F8DFB203D9}" type="datetimeFigureOut">
              <a:rPr lang="en-US" smtClean="0"/>
              <a:t>2/18/2025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0C3EF2-786D-FDCD-5481-BF5CB390B37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B44A15-59DD-A61A-2FBB-8292CAD789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BAB277-AFC6-4456-8F95-D0308567FF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85136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Rectangle 101">
            <a:extLst>
              <a:ext uri="{FF2B5EF4-FFF2-40B4-BE49-F238E27FC236}">
                <a16:creationId xmlns:a16="http://schemas.microsoft.com/office/drawing/2014/main" id="{5E5441BF-A80A-9F62-E226-57CC0426FFDA}"/>
              </a:ext>
            </a:extLst>
          </p:cNvPr>
          <p:cNvSpPr/>
          <p:nvPr/>
        </p:nvSpPr>
        <p:spPr>
          <a:xfrm>
            <a:off x="1250302" y="5136462"/>
            <a:ext cx="9237306" cy="170673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381741D-524D-605D-1D79-6A278FA87B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OpenTelemetry in C#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CD9D48C-4E15-1737-843F-B920799F945F}"/>
              </a:ext>
            </a:extLst>
          </p:cNvPr>
          <p:cNvSpPr txBox="1"/>
          <p:nvPr/>
        </p:nvSpPr>
        <p:spPr>
          <a:xfrm>
            <a:off x="240382" y="1951184"/>
            <a:ext cx="230587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System.Diagnostics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TraceSource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E765C0-8D3D-960E-80B2-8FA658941920}"/>
              </a:ext>
            </a:extLst>
          </p:cNvPr>
          <p:cNvSpPr txBox="1"/>
          <p:nvPr/>
        </p:nvSpPr>
        <p:spPr>
          <a:xfrm>
            <a:off x="280136" y="3505121"/>
            <a:ext cx="230587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System.Diagnostics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EventSource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249B696-39D0-9CF3-4C8C-C0A57A16CF9C}"/>
              </a:ext>
            </a:extLst>
          </p:cNvPr>
          <p:cNvSpPr txBox="1"/>
          <p:nvPr/>
        </p:nvSpPr>
        <p:spPr>
          <a:xfrm>
            <a:off x="240380" y="2707626"/>
            <a:ext cx="230587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Log4Net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A3F1BFD1-7701-6460-E078-F646AAD1964F}"/>
              </a:ext>
            </a:extLst>
          </p:cNvPr>
          <p:cNvGrpSpPr/>
          <p:nvPr/>
        </p:nvGrpSpPr>
        <p:grpSpPr>
          <a:xfrm>
            <a:off x="1444483" y="4689128"/>
            <a:ext cx="2624191" cy="1129172"/>
            <a:chOff x="1484240" y="5007180"/>
            <a:chExt cx="2624191" cy="1129172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75E4B8FC-E232-86D6-AC71-35566A9A7600}"/>
                </a:ext>
              </a:extLst>
            </p:cNvPr>
            <p:cNvSpPr/>
            <p:nvPr/>
          </p:nvSpPr>
          <p:spPr>
            <a:xfrm>
              <a:off x="1484240" y="5560999"/>
              <a:ext cx="2624191" cy="57535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Logs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6AE6C4F-D03B-6045-CFB0-87E6A27036A6}"/>
                </a:ext>
              </a:extLst>
            </p:cNvPr>
            <p:cNvSpPr txBox="1"/>
            <p:nvPr/>
          </p:nvSpPr>
          <p:spPr>
            <a:xfrm>
              <a:off x="1676795" y="5049596"/>
              <a:ext cx="90922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ILogger</a:t>
              </a:r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4D1CEEF1-03D2-89BA-72D0-90E0D314E5B5}"/>
                </a:ext>
              </a:extLst>
            </p:cNvPr>
            <p:cNvSpPr/>
            <p:nvPr/>
          </p:nvSpPr>
          <p:spPr>
            <a:xfrm>
              <a:off x="2687004" y="5007180"/>
              <a:ext cx="218661" cy="21866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566C5DA-F0E4-C58E-B23D-395A707F7558}"/>
                </a:ext>
              </a:extLst>
            </p:cNvPr>
            <p:cNvCxnSpPr>
              <a:stCxn id="16" idx="4"/>
              <a:endCxn id="8" idx="0"/>
            </p:cNvCxnSpPr>
            <p:nvPr/>
          </p:nvCxnSpPr>
          <p:spPr>
            <a:xfrm>
              <a:off x="2796335" y="5225841"/>
              <a:ext cx="1" cy="33515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E81FC974-C53B-0958-7947-EC8EF7AC1772}"/>
              </a:ext>
            </a:extLst>
          </p:cNvPr>
          <p:cNvSpPr txBox="1"/>
          <p:nvPr/>
        </p:nvSpPr>
        <p:spPr>
          <a:xfrm>
            <a:off x="181225" y="1544326"/>
            <a:ext cx="1313949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Text tracing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F0C9EF-2F05-2979-0A3E-05013AD0D0C6}"/>
              </a:ext>
            </a:extLst>
          </p:cNvPr>
          <p:cNvSpPr txBox="1"/>
          <p:nvPr/>
        </p:nvSpPr>
        <p:spPr>
          <a:xfrm>
            <a:off x="181225" y="3114974"/>
            <a:ext cx="1986441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Structured tracing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EF5E2BA6-6E1D-D4BB-E64D-E75B6B378017}"/>
              </a:ext>
            </a:extLst>
          </p:cNvPr>
          <p:cNvCxnSpPr>
            <a:cxnSpLocks/>
            <a:endCxn id="16" idx="0"/>
          </p:cNvCxnSpPr>
          <p:nvPr/>
        </p:nvCxnSpPr>
        <p:spPr>
          <a:xfrm flipH="1">
            <a:off x="2756578" y="2401454"/>
            <a:ext cx="11308" cy="228767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59EA3804-A02E-DCF0-00F1-90980D23C5D1}"/>
              </a:ext>
            </a:extLst>
          </p:cNvPr>
          <p:cNvCxnSpPr>
            <a:cxnSpLocks/>
            <a:stCxn id="12" idx="3"/>
          </p:cNvCxnSpPr>
          <p:nvPr/>
        </p:nvCxnSpPr>
        <p:spPr>
          <a:xfrm>
            <a:off x="2546261" y="2274350"/>
            <a:ext cx="210316" cy="13927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2B589C01-830C-6525-9B86-5D91C5862C7D}"/>
              </a:ext>
            </a:extLst>
          </p:cNvPr>
          <p:cNvCxnSpPr>
            <a:cxnSpLocks/>
            <a:stCxn id="15" idx="3"/>
          </p:cNvCxnSpPr>
          <p:nvPr/>
        </p:nvCxnSpPr>
        <p:spPr>
          <a:xfrm>
            <a:off x="2546259" y="2892292"/>
            <a:ext cx="221627" cy="184666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9802D46F-E4B6-F09F-AD4C-C2BA04DD4DED}"/>
              </a:ext>
            </a:extLst>
          </p:cNvPr>
          <p:cNvCxnSpPr>
            <a:cxnSpLocks/>
            <a:stCxn id="13" idx="3"/>
          </p:cNvCxnSpPr>
          <p:nvPr/>
        </p:nvCxnSpPr>
        <p:spPr>
          <a:xfrm>
            <a:off x="2586015" y="3828287"/>
            <a:ext cx="176217" cy="15007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8B6A29AE-65CD-A587-E4B3-F1C48387DF83}"/>
              </a:ext>
            </a:extLst>
          </p:cNvPr>
          <p:cNvSpPr txBox="1"/>
          <p:nvPr/>
        </p:nvSpPr>
        <p:spPr>
          <a:xfrm>
            <a:off x="3088333" y="2618975"/>
            <a:ext cx="1941053" cy="64633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Automatic instrumentation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36D594F-FBFD-5375-B1D0-F8C926918905}"/>
              </a:ext>
            </a:extLst>
          </p:cNvPr>
          <p:cNvSpPr txBox="1"/>
          <p:nvPr/>
        </p:nvSpPr>
        <p:spPr>
          <a:xfrm>
            <a:off x="3416267" y="3282869"/>
            <a:ext cx="2305879" cy="36933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ASP.Net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 core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3ED8FD6-4740-7079-077B-DFD28E5D42ED}"/>
              </a:ext>
            </a:extLst>
          </p:cNvPr>
          <p:cNvSpPr txBox="1"/>
          <p:nvPr/>
        </p:nvSpPr>
        <p:spPr>
          <a:xfrm>
            <a:off x="3415330" y="3788515"/>
            <a:ext cx="230587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HttpClient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HttpRequest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149E18C-EA12-A4E1-9C1C-FE40F98597AF}"/>
              </a:ext>
            </a:extLst>
          </p:cNvPr>
          <p:cNvSpPr txBox="1"/>
          <p:nvPr/>
        </p:nvSpPr>
        <p:spPr>
          <a:xfrm>
            <a:off x="3088333" y="1492368"/>
            <a:ext cx="2576346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Manual instrumentation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F3D9E8D-1B73-C9B7-3F29-EBF2A95D8713}"/>
              </a:ext>
            </a:extLst>
          </p:cNvPr>
          <p:cNvGrpSpPr/>
          <p:nvPr/>
        </p:nvGrpSpPr>
        <p:grpSpPr>
          <a:xfrm>
            <a:off x="4579016" y="4678361"/>
            <a:ext cx="2624191" cy="1129172"/>
            <a:chOff x="1484240" y="5007180"/>
            <a:chExt cx="2624191" cy="1129172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D06C0AF3-B395-C605-7346-1AF4D8091E49}"/>
                </a:ext>
              </a:extLst>
            </p:cNvPr>
            <p:cNvSpPr/>
            <p:nvPr/>
          </p:nvSpPr>
          <p:spPr>
            <a:xfrm>
              <a:off x="1484240" y="5560999"/>
              <a:ext cx="2624191" cy="57535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Traces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D0A4740D-8E35-34A2-577B-B520B39C0EDE}"/>
                </a:ext>
              </a:extLst>
            </p:cNvPr>
            <p:cNvSpPr txBox="1"/>
            <p:nvPr/>
          </p:nvSpPr>
          <p:spPr>
            <a:xfrm>
              <a:off x="1676795" y="5049596"/>
              <a:ext cx="9108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Activity</a:t>
              </a: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7CE4848E-FC59-9AF6-A25F-D0ADF6AB719E}"/>
                </a:ext>
              </a:extLst>
            </p:cNvPr>
            <p:cNvSpPr/>
            <p:nvPr/>
          </p:nvSpPr>
          <p:spPr>
            <a:xfrm>
              <a:off x="2687004" y="5007180"/>
              <a:ext cx="218661" cy="21866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D1D88834-8AEF-CEDF-5F07-4A085C37F1B0}"/>
                </a:ext>
              </a:extLst>
            </p:cNvPr>
            <p:cNvCxnSpPr>
              <a:stCxn id="46" idx="4"/>
              <a:endCxn id="44" idx="0"/>
            </p:cNvCxnSpPr>
            <p:nvPr/>
          </p:nvCxnSpPr>
          <p:spPr>
            <a:xfrm>
              <a:off x="2796335" y="5225841"/>
              <a:ext cx="1" cy="33515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F46BAF34-5F43-A78B-E271-AF1C67103ECD}"/>
              </a:ext>
            </a:extLst>
          </p:cNvPr>
          <p:cNvSpPr txBox="1"/>
          <p:nvPr/>
        </p:nvSpPr>
        <p:spPr>
          <a:xfrm>
            <a:off x="3416267" y="1932735"/>
            <a:ext cx="2305879" cy="64633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System.Diagnostics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ActivitySource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DE654A2F-F7FB-8C0A-C476-28ADB221D506}"/>
              </a:ext>
            </a:extLst>
          </p:cNvPr>
          <p:cNvCxnSpPr>
            <a:cxnSpLocks/>
            <a:endCxn id="46" idx="0"/>
          </p:cNvCxnSpPr>
          <p:nvPr/>
        </p:nvCxnSpPr>
        <p:spPr>
          <a:xfrm>
            <a:off x="5891111" y="2405441"/>
            <a:ext cx="0" cy="2272920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449D08AF-480B-745D-5489-9CDA2A122254}"/>
              </a:ext>
            </a:extLst>
          </p:cNvPr>
          <p:cNvCxnSpPr>
            <a:cxnSpLocks/>
          </p:cNvCxnSpPr>
          <p:nvPr/>
        </p:nvCxnSpPr>
        <p:spPr>
          <a:xfrm>
            <a:off x="5733455" y="2277729"/>
            <a:ext cx="168964" cy="12372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>
            <a:extLst>
              <a:ext uri="{FF2B5EF4-FFF2-40B4-BE49-F238E27FC236}">
                <a16:creationId xmlns:a16="http://schemas.microsoft.com/office/drawing/2014/main" id="{279521E9-7D3F-8526-D885-5FE617AAF523}"/>
              </a:ext>
            </a:extLst>
          </p:cNvPr>
          <p:cNvCxnSpPr>
            <a:cxnSpLocks/>
            <a:stCxn id="40" idx="3"/>
          </p:cNvCxnSpPr>
          <p:nvPr/>
        </p:nvCxnSpPr>
        <p:spPr>
          <a:xfrm>
            <a:off x="5722146" y="3467535"/>
            <a:ext cx="180273" cy="12863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>
            <a:extLst>
              <a:ext uri="{FF2B5EF4-FFF2-40B4-BE49-F238E27FC236}">
                <a16:creationId xmlns:a16="http://schemas.microsoft.com/office/drawing/2014/main" id="{C240C1E8-EFA0-9587-10E5-5357C22DEC52}"/>
              </a:ext>
            </a:extLst>
          </p:cNvPr>
          <p:cNvCxnSpPr>
            <a:stCxn id="41" idx="3"/>
          </p:cNvCxnSpPr>
          <p:nvPr/>
        </p:nvCxnSpPr>
        <p:spPr>
          <a:xfrm>
            <a:off x="5721209" y="4111681"/>
            <a:ext cx="169901" cy="14226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8761B0C0-A579-C065-47DF-D99B3CDFBF4B}"/>
              </a:ext>
            </a:extLst>
          </p:cNvPr>
          <p:cNvCxnSpPr>
            <a:cxnSpLocks/>
            <a:endCxn id="16" idx="7"/>
          </p:cNvCxnSpPr>
          <p:nvPr/>
        </p:nvCxnSpPr>
        <p:spPr>
          <a:xfrm flipH="1">
            <a:off x="2833886" y="3652201"/>
            <a:ext cx="570137" cy="106894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A7388D0A-440C-4EC9-5EEC-7A3BE4332B7E}"/>
              </a:ext>
            </a:extLst>
          </p:cNvPr>
          <p:cNvCxnSpPr>
            <a:endCxn id="16" idx="6"/>
          </p:cNvCxnSpPr>
          <p:nvPr/>
        </p:nvCxnSpPr>
        <p:spPr>
          <a:xfrm flipH="1">
            <a:off x="2865908" y="4434846"/>
            <a:ext cx="561106" cy="363613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76" name="Group 75">
            <a:extLst>
              <a:ext uri="{FF2B5EF4-FFF2-40B4-BE49-F238E27FC236}">
                <a16:creationId xmlns:a16="http://schemas.microsoft.com/office/drawing/2014/main" id="{AC8DCBDD-ED57-3B83-D11D-793A875AC860}"/>
              </a:ext>
            </a:extLst>
          </p:cNvPr>
          <p:cNvGrpSpPr/>
          <p:nvPr/>
        </p:nvGrpSpPr>
        <p:grpSpPr>
          <a:xfrm>
            <a:off x="7713548" y="4603025"/>
            <a:ext cx="3168667" cy="1216251"/>
            <a:chOff x="1484240" y="4920101"/>
            <a:chExt cx="3168667" cy="1216251"/>
          </a:xfrm>
        </p:grpSpPr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457B4F04-37D8-44EB-ADA7-02424ED5BC51}"/>
                </a:ext>
              </a:extLst>
            </p:cNvPr>
            <p:cNvSpPr/>
            <p:nvPr/>
          </p:nvSpPr>
          <p:spPr>
            <a:xfrm>
              <a:off x="1484240" y="5560999"/>
              <a:ext cx="2624191" cy="575353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Metrics</a:t>
              </a:r>
            </a:p>
          </p:txBody>
        </p: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F6DD775-05EF-6248-C905-47A6F016488C}"/>
                </a:ext>
              </a:extLst>
            </p:cNvPr>
            <p:cNvSpPr txBox="1"/>
            <p:nvPr/>
          </p:nvSpPr>
          <p:spPr>
            <a:xfrm>
              <a:off x="3065613" y="4920101"/>
              <a:ext cx="158729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err="1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 panose="02110004020202020204"/>
                  <a:ea typeface="+mn-ea"/>
                  <a:cs typeface="+mn-cs"/>
                </a:rPr>
                <a:t>MeterProvider</a:t>
              </a: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79" name="Oval 78">
              <a:extLst>
                <a:ext uri="{FF2B5EF4-FFF2-40B4-BE49-F238E27FC236}">
                  <a16:creationId xmlns:a16="http://schemas.microsoft.com/office/drawing/2014/main" id="{22B7A6CC-FA03-D39A-2FB3-83725393CBF7}"/>
                </a:ext>
              </a:extLst>
            </p:cNvPr>
            <p:cNvSpPr/>
            <p:nvPr/>
          </p:nvSpPr>
          <p:spPr>
            <a:xfrm>
              <a:off x="2687004" y="5007180"/>
              <a:ext cx="218661" cy="218661"/>
            </a:xfrm>
            <a:prstGeom prst="ellipse">
              <a:avLst/>
            </a:prstGeom>
            <a:solidFill>
              <a:schemeClr val="bg1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cxnSp>
          <p:nvCxnSpPr>
            <p:cNvPr id="80" name="Straight Connector 79">
              <a:extLst>
                <a:ext uri="{FF2B5EF4-FFF2-40B4-BE49-F238E27FC236}">
                  <a16:creationId xmlns:a16="http://schemas.microsoft.com/office/drawing/2014/main" id="{5C1A2536-4C88-5224-167F-D7942C488F66}"/>
                </a:ext>
              </a:extLst>
            </p:cNvPr>
            <p:cNvCxnSpPr>
              <a:stCxn id="79" idx="4"/>
              <a:endCxn id="77" idx="0"/>
            </p:cNvCxnSpPr>
            <p:nvPr/>
          </p:nvCxnSpPr>
          <p:spPr>
            <a:xfrm>
              <a:off x="2796335" y="5225841"/>
              <a:ext cx="1" cy="33515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1" name="TextBox 80">
            <a:extLst>
              <a:ext uri="{FF2B5EF4-FFF2-40B4-BE49-F238E27FC236}">
                <a16:creationId xmlns:a16="http://schemas.microsoft.com/office/drawing/2014/main" id="{3D210D10-4A58-8073-E77E-7867B2C023C3}"/>
              </a:ext>
            </a:extLst>
          </p:cNvPr>
          <p:cNvSpPr txBox="1"/>
          <p:nvPr/>
        </p:nvSpPr>
        <p:spPr>
          <a:xfrm>
            <a:off x="7861395" y="2998941"/>
            <a:ext cx="2316274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System.Diagnostics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.Metrics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Meter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Char char="-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Counter</a:t>
            </a:r>
          </a:p>
        </p:txBody>
      </p:sp>
      <p:cxnSp>
        <p:nvCxnSpPr>
          <p:cNvPr id="83" name="Straight Arrow Connector 82">
            <a:extLst>
              <a:ext uri="{FF2B5EF4-FFF2-40B4-BE49-F238E27FC236}">
                <a16:creationId xmlns:a16="http://schemas.microsoft.com/office/drawing/2014/main" id="{F096EEAB-B4C0-BD36-E705-FEB8C83E690D}"/>
              </a:ext>
            </a:extLst>
          </p:cNvPr>
          <p:cNvCxnSpPr>
            <a:cxnSpLocks/>
            <a:stCxn id="81" idx="2"/>
            <a:endCxn id="79" idx="0"/>
          </p:cNvCxnSpPr>
          <p:nvPr/>
        </p:nvCxnSpPr>
        <p:spPr>
          <a:xfrm>
            <a:off x="9019532" y="4199270"/>
            <a:ext cx="6111" cy="490834"/>
          </a:xfrm>
          <a:prstGeom prst="straightConnector1">
            <a:avLst/>
          </a:prstGeom>
          <a:ln>
            <a:headEnd type="none" w="med" len="med"/>
            <a:tailEnd type="arrow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5" name="TextBox 84">
            <a:extLst>
              <a:ext uri="{FF2B5EF4-FFF2-40B4-BE49-F238E27FC236}">
                <a16:creationId xmlns:a16="http://schemas.microsoft.com/office/drawing/2014/main" id="{F20ECCB0-D8F4-53D4-436D-FE34203C394E}"/>
              </a:ext>
            </a:extLst>
          </p:cNvPr>
          <p:cNvSpPr txBox="1"/>
          <p:nvPr/>
        </p:nvSpPr>
        <p:spPr>
          <a:xfrm>
            <a:off x="7497924" y="2532022"/>
            <a:ext cx="2836775" cy="369332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Multi-Dimensional Metrics</a:t>
            </a:r>
          </a:p>
        </p:txBody>
      </p:sp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448326B2-499A-95A2-1471-E06F9DA8A0CF}"/>
              </a:ext>
            </a:extLst>
          </p:cNvPr>
          <p:cNvCxnSpPr>
            <a:endCxn id="79" idx="1"/>
          </p:cNvCxnSpPr>
          <p:nvPr/>
        </p:nvCxnSpPr>
        <p:spPr>
          <a:xfrm>
            <a:off x="5733455" y="3652201"/>
            <a:ext cx="3214879" cy="1069925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EBA223CB-A8F0-C665-3C7A-A009545B0155}"/>
              </a:ext>
            </a:extLst>
          </p:cNvPr>
          <p:cNvCxnSpPr>
            <a:endCxn id="79" idx="2"/>
          </p:cNvCxnSpPr>
          <p:nvPr/>
        </p:nvCxnSpPr>
        <p:spPr>
          <a:xfrm>
            <a:off x="5682398" y="4434846"/>
            <a:ext cx="3233914" cy="364589"/>
          </a:xfrm>
          <a:prstGeom prst="straightConnector1">
            <a:avLst/>
          </a:prstGeom>
          <a:ln>
            <a:prstDash val="dash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3" name="Group 92">
            <a:extLst>
              <a:ext uri="{FF2B5EF4-FFF2-40B4-BE49-F238E27FC236}">
                <a16:creationId xmlns:a16="http://schemas.microsoft.com/office/drawing/2014/main" id="{298A7904-BF3D-1F91-7B77-30E07FC2B0AF}"/>
              </a:ext>
            </a:extLst>
          </p:cNvPr>
          <p:cNvGrpSpPr/>
          <p:nvPr/>
        </p:nvGrpSpPr>
        <p:grpSpPr>
          <a:xfrm>
            <a:off x="1434668" y="5960371"/>
            <a:ext cx="2634004" cy="503191"/>
            <a:chOff x="1434668" y="5960371"/>
            <a:chExt cx="2634004" cy="503191"/>
          </a:xfrm>
        </p:grpSpPr>
        <p:sp>
          <p:nvSpPr>
            <p:cNvPr id="90" name="Rectangle 89">
              <a:extLst>
                <a:ext uri="{FF2B5EF4-FFF2-40B4-BE49-F238E27FC236}">
                  <a16:creationId xmlns:a16="http://schemas.microsoft.com/office/drawing/2014/main" id="{D2F3742E-CEB4-E325-9A7B-DD2960E88055}"/>
                </a:ext>
              </a:extLst>
            </p:cNvPr>
            <p:cNvSpPr/>
            <p:nvPr/>
          </p:nvSpPr>
          <p:spPr>
            <a:xfrm>
              <a:off x="1434668" y="5960371"/>
              <a:ext cx="2624191" cy="2197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2" name="Rectangle 91">
              <a:extLst>
                <a:ext uri="{FF2B5EF4-FFF2-40B4-BE49-F238E27FC236}">
                  <a16:creationId xmlns:a16="http://schemas.microsoft.com/office/drawing/2014/main" id="{88FA73D6-8822-13C1-17DB-6989AA0C0ABB}"/>
                </a:ext>
              </a:extLst>
            </p:cNvPr>
            <p:cNvSpPr/>
            <p:nvPr/>
          </p:nvSpPr>
          <p:spPr>
            <a:xfrm>
              <a:off x="1444481" y="6243765"/>
              <a:ext cx="2624191" cy="2197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95" name="Group 94">
            <a:extLst>
              <a:ext uri="{FF2B5EF4-FFF2-40B4-BE49-F238E27FC236}">
                <a16:creationId xmlns:a16="http://schemas.microsoft.com/office/drawing/2014/main" id="{444D9FD8-0DDB-234A-E964-B18E2946E5A6}"/>
              </a:ext>
            </a:extLst>
          </p:cNvPr>
          <p:cNvGrpSpPr/>
          <p:nvPr/>
        </p:nvGrpSpPr>
        <p:grpSpPr>
          <a:xfrm>
            <a:off x="4568269" y="5952017"/>
            <a:ext cx="2634004" cy="503191"/>
            <a:chOff x="1434668" y="5960371"/>
            <a:chExt cx="2634004" cy="503191"/>
          </a:xfrm>
        </p:grpSpPr>
        <p:sp>
          <p:nvSpPr>
            <p:cNvPr id="96" name="Rectangle 95">
              <a:extLst>
                <a:ext uri="{FF2B5EF4-FFF2-40B4-BE49-F238E27FC236}">
                  <a16:creationId xmlns:a16="http://schemas.microsoft.com/office/drawing/2014/main" id="{A4D274A3-4763-375D-FD98-375A169C368D}"/>
                </a:ext>
              </a:extLst>
            </p:cNvPr>
            <p:cNvSpPr/>
            <p:nvPr/>
          </p:nvSpPr>
          <p:spPr>
            <a:xfrm>
              <a:off x="1434668" y="5960371"/>
              <a:ext cx="2624191" cy="2197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97" name="Rectangle 96">
              <a:extLst>
                <a:ext uri="{FF2B5EF4-FFF2-40B4-BE49-F238E27FC236}">
                  <a16:creationId xmlns:a16="http://schemas.microsoft.com/office/drawing/2014/main" id="{9C46D0BB-0EB6-DED3-2EDB-EEEF4A749A22}"/>
                </a:ext>
              </a:extLst>
            </p:cNvPr>
            <p:cNvSpPr/>
            <p:nvPr/>
          </p:nvSpPr>
          <p:spPr>
            <a:xfrm>
              <a:off x="1444481" y="6243765"/>
              <a:ext cx="2624191" cy="2197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BA19977A-C73E-30D6-B7A6-79F9CFCEEA31}"/>
              </a:ext>
            </a:extLst>
          </p:cNvPr>
          <p:cNvGrpSpPr/>
          <p:nvPr/>
        </p:nvGrpSpPr>
        <p:grpSpPr>
          <a:xfrm>
            <a:off x="7701870" y="5940801"/>
            <a:ext cx="2634004" cy="503191"/>
            <a:chOff x="1434668" y="5960371"/>
            <a:chExt cx="2634004" cy="503191"/>
          </a:xfrm>
        </p:grpSpPr>
        <p:sp>
          <p:nvSpPr>
            <p:cNvPr id="99" name="Rectangle 98">
              <a:extLst>
                <a:ext uri="{FF2B5EF4-FFF2-40B4-BE49-F238E27FC236}">
                  <a16:creationId xmlns:a16="http://schemas.microsoft.com/office/drawing/2014/main" id="{DBF13EBB-15BB-5457-DF23-638DFCA414AF}"/>
                </a:ext>
              </a:extLst>
            </p:cNvPr>
            <p:cNvSpPr/>
            <p:nvPr/>
          </p:nvSpPr>
          <p:spPr>
            <a:xfrm>
              <a:off x="1434668" y="5960371"/>
              <a:ext cx="2624191" cy="2197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  <p:sp>
          <p:nvSpPr>
            <p:cNvPr id="100" name="Rectangle 99">
              <a:extLst>
                <a:ext uri="{FF2B5EF4-FFF2-40B4-BE49-F238E27FC236}">
                  <a16:creationId xmlns:a16="http://schemas.microsoft.com/office/drawing/2014/main" id="{447C05A1-E5CE-A257-523A-2D50E143179E}"/>
                </a:ext>
              </a:extLst>
            </p:cNvPr>
            <p:cNvSpPr/>
            <p:nvPr/>
          </p:nvSpPr>
          <p:spPr>
            <a:xfrm>
              <a:off x="1444481" y="6243765"/>
              <a:ext cx="2624191" cy="219797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endParaRPr>
            </a:p>
          </p:txBody>
        </p:sp>
      </p:grpSp>
      <p:sp>
        <p:nvSpPr>
          <p:cNvPr id="101" name="TextBox 100">
            <a:extLst>
              <a:ext uri="{FF2B5EF4-FFF2-40B4-BE49-F238E27FC236}">
                <a16:creationId xmlns:a16="http://schemas.microsoft.com/office/drawing/2014/main" id="{00F190CA-CF47-BEDD-C95F-DD4FB4299282}"/>
              </a:ext>
            </a:extLst>
          </p:cNvPr>
          <p:cNvSpPr txBox="1"/>
          <p:nvPr/>
        </p:nvSpPr>
        <p:spPr>
          <a:xfrm>
            <a:off x="2984169" y="6479579"/>
            <a:ext cx="64235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E2841">
                    <a:lumMod val="75000"/>
                    <a:lumOff val="25000"/>
                  </a:srgbClr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In-memory pipelines: Processors, Exporters, Samplers, etc.</a:t>
            </a: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89753DC4-E91E-F8FD-E5CF-A99C23E69DE6}"/>
              </a:ext>
            </a:extLst>
          </p:cNvPr>
          <p:cNvSpPr/>
          <p:nvPr/>
        </p:nvSpPr>
        <p:spPr>
          <a:xfrm>
            <a:off x="10705807" y="6021247"/>
            <a:ext cx="1181394" cy="625692"/>
          </a:xfrm>
          <a:prstGeom prst="roundRect">
            <a:avLst/>
          </a:prstGeom>
          <a:noFill/>
          <a:ln w="28575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Collector(s)</a:t>
            </a:r>
          </a:p>
        </p:txBody>
      </p: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FBD8A23-DF3E-DC84-D94C-C1C1D9ACD41C}"/>
              </a:ext>
            </a:extLst>
          </p:cNvPr>
          <p:cNvCxnSpPr>
            <a:cxnSpLocks/>
            <a:stCxn id="100" idx="3"/>
            <a:endCxn id="2" idx="1"/>
          </p:cNvCxnSpPr>
          <p:nvPr/>
        </p:nvCxnSpPr>
        <p:spPr>
          <a:xfrm flipV="1">
            <a:off x="10335874" y="6334093"/>
            <a:ext cx="369933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842772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Rectangle 55">
            <a:extLst>
              <a:ext uri="{FF2B5EF4-FFF2-40B4-BE49-F238E27FC236}">
                <a16:creationId xmlns:a16="http://schemas.microsoft.com/office/drawing/2014/main" id="{D177CD8C-6B60-62C6-B13E-57471F1043E8}"/>
              </a:ext>
            </a:extLst>
          </p:cNvPr>
          <p:cNvSpPr/>
          <p:nvPr/>
        </p:nvSpPr>
        <p:spPr>
          <a:xfrm>
            <a:off x="6803266" y="5065145"/>
            <a:ext cx="1640938" cy="1556782"/>
          </a:xfrm>
          <a:prstGeom prst="rect">
            <a:avLst/>
          </a:prstGeom>
          <a:solidFill>
            <a:schemeClr val="tx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5AD41C5-2A67-96DA-FED7-CE773BC01BBA}"/>
              </a:ext>
            </a:extLst>
          </p:cNvPr>
          <p:cNvSpPr/>
          <p:nvPr/>
        </p:nvSpPr>
        <p:spPr>
          <a:xfrm>
            <a:off x="276794" y="2430749"/>
            <a:ext cx="1856986" cy="1125505"/>
          </a:xfrm>
          <a:prstGeom prst="roundRect">
            <a:avLst/>
          </a:prstGeom>
          <a:noFill/>
          <a:ln w="19050"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7532B2-54E8-CF57-A265-178C95360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application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9CC5B15-A582-B725-6B99-FC490D0228AD}"/>
              </a:ext>
            </a:extLst>
          </p:cNvPr>
          <p:cNvSpPr txBox="1"/>
          <p:nvPr/>
        </p:nvSpPr>
        <p:spPr>
          <a:xfrm>
            <a:off x="403729" y="2544855"/>
            <a:ext cx="125226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John Doe</a:t>
            </a:r>
          </a:p>
          <a:p>
            <a:r>
              <a:rPr lang="en-US" dirty="0"/>
              <a:t>Bill Sharp</a:t>
            </a:r>
          </a:p>
          <a:p>
            <a:r>
              <a:rPr lang="en-US" dirty="0"/>
              <a:t>Cindy Black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62C31B9-B0E4-B3EC-ED95-58CD4A39FA8E}"/>
              </a:ext>
            </a:extLst>
          </p:cNvPr>
          <p:cNvSpPr txBox="1"/>
          <p:nvPr/>
        </p:nvSpPr>
        <p:spPr>
          <a:xfrm>
            <a:off x="401805" y="2244624"/>
            <a:ext cx="1476569" cy="36933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contoso.com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F16CB1E9-8810-6AFA-B16F-1C3087E2E7D6}"/>
              </a:ext>
            </a:extLst>
          </p:cNvPr>
          <p:cNvSpPr/>
          <p:nvPr/>
        </p:nvSpPr>
        <p:spPr>
          <a:xfrm>
            <a:off x="276794" y="3868830"/>
            <a:ext cx="1856986" cy="1125505"/>
          </a:xfrm>
          <a:prstGeom prst="roundRect">
            <a:avLst/>
          </a:prstGeom>
          <a:noFill/>
          <a:ln w="19050">
            <a:solidFill>
              <a:srgbClr val="00B050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75B602-48EC-C573-C859-2B3F943D79C7}"/>
              </a:ext>
            </a:extLst>
          </p:cNvPr>
          <p:cNvSpPr txBox="1"/>
          <p:nvPr/>
        </p:nvSpPr>
        <p:spPr>
          <a:xfrm>
            <a:off x="403729" y="3982936"/>
            <a:ext cx="143346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Jane Shepard</a:t>
            </a:r>
          </a:p>
          <a:p>
            <a:r>
              <a:rPr lang="en-US" dirty="0"/>
              <a:t>Betty Bright</a:t>
            </a:r>
          </a:p>
          <a:p>
            <a:r>
              <a:rPr lang="en-US" dirty="0"/>
              <a:t>Alex Smith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F4AEEF8-B186-39FC-3DEE-D1179C4C665F}"/>
              </a:ext>
            </a:extLst>
          </p:cNvPr>
          <p:cNvSpPr txBox="1"/>
          <p:nvPr/>
        </p:nvSpPr>
        <p:spPr>
          <a:xfrm>
            <a:off x="401805" y="3682705"/>
            <a:ext cx="1476569" cy="36933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dirty="0"/>
              <a:t>fabricam.com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04EA80E-9E55-F1B7-C1AF-25E7FE7F5B29}"/>
              </a:ext>
            </a:extLst>
          </p:cNvPr>
          <p:cNvSpPr txBox="1"/>
          <p:nvPr/>
        </p:nvSpPr>
        <p:spPr>
          <a:xfrm>
            <a:off x="2074880" y="1842243"/>
            <a:ext cx="7032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Users</a:t>
            </a: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0A0479C-E19B-4799-DF17-19A8BD298300}"/>
              </a:ext>
            </a:extLst>
          </p:cNvPr>
          <p:cNvGrpSpPr/>
          <p:nvPr/>
        </p:nvGrpSpPr>
        <p:grpSpPr>
          <a:xfrm>
            <a:off x="3420552" y="2948418"/>
            <a:ext cx="3490272" cy="1770567"/>
            <a:chOff x="3420552" y="2948418"/>
            <a:chExt cx="3490272" cy="1770567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1538722E-1BA3-69F4-A0DF-AAAA4B3025F2}"/>
                </a:ext>
              </a:extLst>
            </p:cNvPr>
            <p:cNvSpPr/>
            <p:nvPr/>
          </p:nvSpPr>
          <p:spPr>
            <a:xfrm>
              <a:off x="5174708" y="2988645"/>
              <a:ext cx="1736116" cy="1730340"/>
            </a:xfrm>
            <a:prstGeom prst="roundRect">
              <a:avLst/>
            </a:prstGeom>
            <a:solidFill>
              <a:schemeClr val="accent4">
                <a:lumMod val="60000"/>
                <a:lumOff val="40000"/>
              </a:schemeClr>
            </a:solidFill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Collaboration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Wiki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383DCA68-CB9C-B85A-3129-C4BA03AB0612}"/>
                </a:ext>
              </a:extLst>
            </p:cNvPr>
            <p:cNvSpPr/>
            <p:nvPr/>
          </p:nvSpPr>
          <p:spPr>
            <a:xfrm>
              <a:off x="3420552" y="3317750"/>
              <a:ext cx="158621" cy="177282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EF26A2CE-A4FD-8DFF-800D-68FD2AAD5C04}"/>
                </a:ext>
              </a:extLst>
            </p:cNvPr>
            <p:cNvCxnSpPr>
              <a:cxnSpLocks/>
              <a:stCxn id="13" idx="6"/>
            </p:cNvCxnSpPr>
            <p:nvPr/>
          </p:nvCxnSpPr>
          <p:spPr>
            <a:xfrm>
              <a:off x="3579173" y="3406391"/>
              <a:ext cx="1595534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E4219A0D-5869-9042-EFC6-57A1ABEAC43A}"/>
                </a:ext>
              </a:extLst>
            </p:cNvPr>
            <p:cNvSpPr txBox="1"/>
            <p:nvPr/>
          </p:nvSpPr>
          <p:spPr>
            <a:xfrm>
              <a:off x="3499862" y="2948418"/>
              <a:ext cx="163403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ReadDocument</a:t>
              </a: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ED8B0F6-7B00-D7D1-FA2E-FF66ED72FA6F}"/>
                </a:ext>
              </a:extLst>
            </p:cNvPr>
            <p:cNvSpPr/>
            <p:nvPr/>
          </p:nvSpPr>
          <p:spPr>
            <a:xfrm>
              <a:off x="3420552" y="4182005"/>
              <a:ext cx="158621" cy="177282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48435551-D368-E739-7D48-497D8AF14DC6}"/>
                </a:ext>
              </a:extLst>
            </p:cNvPr>
            <p:cNvCxnSpPr>
              <a:cxnSpLocks/>
              <a:stCxn id="20" idx="6"/>
            </p:cNvCxnSpPr>
            <p:nvPr/>
          </p:nvCxnSpPr>
          <p:spPr>
            <a:xfrm>
              <a:off x="3579173" y="4270646"/>
              <a:ext cx="1595534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C977BF9D-0623-9785-997A-D33262D1AC63}"/>
                </a:ext>
              </a:extLst>
            </p:cNvPr>
            <p:cNvSpPr txBox="1"/>
            <p:nvPr/>
          </p:nvSpPr>
          <p:spPr>
            <a:xfrm>
              <a:off x="3495639" y="3820057"/>
              <a:ext cx="173611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GrantPermission</a:t>
              </a:r>
            </a:p>
          </p:txBody>
        </p:sp>
      </p:grpSp>
      <p:sp>
        <p:nvSpPr>
          <p:cNvPr id="23" name="Right Brace 22">
            <a:extLst>
              <a:ext uri="{FF2B5EF4-FFF2-40B4-BE49-F238E27FC236}">
                <a16:creationId xmlns:a16="http://schemas.microsoft.com/office/drawing/2014/main" id="{C17E6CAB-0998-09C8-BE3A-EACBF81E0D1D}"/>
              </a:ext>
            </a:extLst>
          </p:cNvPr>
          <p:cNvSpPr/>
          <p:nvPr/>
        </p:nvSpPr>
        <p:spPr>
          <a:xfrm>
            <a:off x="2174588" y="2352509"/>
            <a:ext cx="503854" cy="2660392"/>
          </a:xfrm>
          <a:prstGeom prst="rightBrac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9" name="Group 38">
            <a:extLst>
              <a:ext uri="{FF2B5EF4-FFF2-40B4-BE49-F238E27FC236}">
                <a16:creationId xmlns:a16="http://schemas.microsoft.com/office/drawing/2014/main" id="{A2D58667-D925-FCC1-8F66-0B86D1971B62}"/>
              </a:ext>
            </a:extLst>
          </p:cNvPr>
          <p:cNvGrpSpPr/>
          <p:nvPr/>
        </p:nvGrpSpPr>
        <p:grpSpPr>
          <a:xfrm>
            <a:off x="7717995" y="2588274"/>
            <a:ext cx="4242525" cy="2376202"/>
            <a:chOff x="7717995" y="2588274"/>
            <a:chExt cx="4242525" cy="2376202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151EBA41-0C56-2922-5854-F97AD63D676A}"/>
                </a:ext>
              </a:extLst>
            </p:cNvPr>
            <p:cNvSpPr/>
            <p:nvPr/>
          </p:nvSpPr>
          <p:spPr>
            <a:xfrm>
              <a:off x="9279957" y="2588274"/>
              <a:ext cx="2680563" cy="2121438"/>
            </a:xfrm>
            <a:prstGeom prst="roundRect">
              <a:avLst>
                <a:gd name="adj" fmla="val 8441"/>
              </a:avLst>
            </a:prstGeom>
            <a:pattFill prst="ltDnDiag">
              <a:fgClr>
                <a:schemeClr val="bg1">
                  <a:lumMod val="85000"/>
                </a:schemeClr>
              </a:fgClr>
              <a:bgClr>
                <a:schemeClr val="bg1"/>
              </a:bgClr>
            </a:pattFill>
            <a:ln w="19050">
              <a:solidFill>
                <a:schemeClr val="bg1">
                  <a:lumMod val="6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026" name="Picture 2" descr="Image result for excel icon">
              <a:extLst>
                <a:ext uri="{FF2B5EF4-FFF2-40B4-BE49-F238E27FC236}">
                  <a16:creationId xmlns:a16="http://schemas.microsoft.com/office/drawing/2014/main" id="{A2D71404-C9F6-6E55-39BE-824C5784D7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49210" y="3648993"/>
              <a:ext cx="406566" cy="3575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28" name="Picture 4" descr="Image result for word icon">
              <a:extLst>
                <a:ext uri="{FF2B5EF4-FFF2-40B4-BE49-F238E27FC236}">
                  <a16:creationId xmlns:a16="http://schemas.microsoft.com/office/drawing/2014/main" id="{3EE7EE1B-8ED4-3051-4E83-47967888661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49210" y="2804333"/>
              <a:ext cx="406566" cy="34371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030" name="Picture 6" descr="Image result for poweroint icon">
              <a:extLst>
                <a:ext uri="{FF2B5EF4-FFF2-40B4-BE49-F238E27FC236}">
                  <a16:creationId xmlns:a16="http://schemas.microsoft.com/office/drawing/2014/main" id="{C2072E2D-50C2-D89C-AADE-E2FDE3EF4A5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49210" y="3194126"/>
              <a:ext cx="406566" cy="4555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56DEA62D-01EE-E580-7CAF-799A46588DFC}"/>
                </a:ext>
              </a:extLst>
            </p:cNvPr>
            <p:cNvSpPr txBox="1"/>
            <p:nvPr/>
          </p:nvSpPr>
          <p:spPr>
            <a:xfrm>
              <a:off x="9993305" y="2764382"/>
              <a:ext cx="12538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Vision.docx</a:t>
              </a: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781BFCA0-52EE-1C36-B591-76D002B5D7B7}"/>
                </a:ext>
              </a:extLst>
            </p:cNvPr>
            <p:cNvSpPr txBox="1"/>
            <p:nvPr/>
          </p:nvSpPr>
          <p:spPr>
            <a:xfrm>
              <a:off x="9993305" y="3218836"/>
              <a:ext cx="18226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Architecture.pptx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C8C39619-6FA8-3710-A423-7D3E17BD1FC6}"/>
                </a:ext>
              </a:extLst>
            </p:cNvPr>
            <p:cNvSpPr txBox="1"/>
            <p:nvPr/>
          </p:nvSpPr>
          <p:spPr>
            <a:xfrm>
              <a:off x="9998947" y="3610390"/>
              <a:ext cx="124822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Budget.xlsx</a:t>
              </a:r>
            </a:p>
          </p:txBody>
        </p:sp>
        <p:pic>
          <p:nvPicPr>
            <p:cNvPr id="29" name="Picture 6" descr="Image result for poweroint icon">
              <a:extLst>
                <a:ext uri="{FF2B5EF4-FFF2-40B4-BE49-F238E27FC236}">
                  <a16:creationId xmlns:a16="http://schemas.microsoft.com/office/drawing/2014/main" id="{8F70DF5C-3D25-9F1E-3E3B-8F02BD8CB1F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51654" y="4040547"/>
              <a:ext cx="406566" cy="455556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DF4EA332-4DB4-BC1E-AF12-22000C786CCC}"/>
                </a:ext>
              </a:extLst>
            </p:cNvPr>
            <p:cNvSpPr txBox="1"/>
            <p:nvPr/>
          </p:nvSpPr>
          <p:spPr>
            <a:xfrm>
              <a:off x="9995749" y="4065257"/>
              <a:ext cx="106529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Plan.pptx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4B428F1D-5C64-0C0A-5CA3-727CD57183CC}"/>
                </a:ext>
              </a:extLst>
            </p:cNvPr>
            <p:cNvSpPr txBox="1"/>
            <p:nvPr/>
          </p:nvSpPr>
          <p:spPr>
            <a:xfrm>
              <a:off x="9594524" y="4595144"/>
              <a:ext cx="2180031" cy="369332"/>
            </a:xfrm>
            <a:prstGeom prst="rect">
              <a:avLst/>
            </a:prstGeom>
            <a:solidFill>
              <a:schemeClr val="bg1">
                <a:lumMod val="85000"/>
              </a:schemeClr>
            </a:solidFill>
          </p:spPr>
          <p:txBody>
            <a:bodyPr wrap="square">
              <a:spAutoFit/>
            </a:bodyPr>
            <a:lstStyle/>
            <a:p>
              <a:r>
                <a:rPr lang="en-US" dirty="0"/>
                <a:t>Encrypted Storage</a:t>
              </a:r>
            </a:p>
          </p:txBody>
        </p:sp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B8BC4F7-6AB9-063E-E9C7-2CF3AE0C74B9}"/>
                </a:ext>
              </a:extLst>
            </p:cNvPr>
            <p:cNvSpPr/>
            <p:nvPr/>
          </p:nvSpPr>
          <p:spPr>
            <a:xfrm>
              <a:off x="7717995" y="3290903"/>
              <a:ext cx="158621" cy="177282"/>
            </a:xfrm>
            <a:prstGeom prst="ellipse">
              <a:avLst/>
            </a:prstGeom>
            <a:noFill/>
            <a:ln w="3810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6F180373-D938-A1DC-67F7-9128B6021FCA}"/>
                </a:ext>
              </a:extLst>
            </p:cNvPr>
            <p:cNvCxnSpPr>
              <a:cxnSpLocks/>
            </p:cNvCxnSpPr>
            <p:nvPr/>
          </p:nvCxnSpPr>
          <p:spPr>
            <a:xfrm>
              <a:off x="7884367" y="3373323"/>
              <a:ext cx="1368314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4" name="TextBox 33">
            <a:extLst>
              <a:ext uri="{FF2B5EF4-FFF2-40B4-BE49-F238E27FC236}">
                <a16:creationId xmlns:a16="http://schemas.microsoft.com/office/drawing/2014/main" id="{DCA44B88-28C1-1AD6-0099-9BD3FB08C88A}"/>
              </a:ext>
            </a:extLst>
          </p:cNvPr>
          <p:cNvSpPr txBox="1"/>
          <p:nvPr/>
        </p:nvSpPr>
        <p:spPr>
          <a:xfrm>
            <a:off x="7338721" y="2821854"/>
            <a:ext cx="185275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ReadFromStorage</a:t>
            </a:r>
          </a:p>
        </p:txBody>
      </p: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D11F474-EB93-FE18-CADE-29257736A2D3}"/>
              </a:ext>
            </a:extLst>
          </p:cNvPr>
          <p:cNvGrpSpPr/>
          <p:nvPr/>
        </p:nvGrpSpPr>
        <p:grpSpPr>
          <a:xfrm>
            <a:off x="2778149" y="3373323"/>
            <a:ext cx="565853" cy="319436"/>
            <a:chOff x="2778149" y="3373323"/>
            <a:chExt cx="565853" cy="319436"/>
          </a:xfrm>
        </p:grpSpPr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DF21708D-3777-F4FA-642B-B730A6DCEAB7}"/>
                </a:ext>
              </a:extLst>
            </p:cNvPr>
            <p:cNvCxnSpPr/>
            <p:nvPr/>
          </p:nvCxnSpPr>
          <p:spPr>
            <a:xfrm flipV="1">
              <a:off x="2778149" y="3373323"/>
              <a:ext cx="506227" cy="214845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DC19FAFB-5165-CF4B-2DE3-F3AA61EA02E2}"/>
                </a:ext>
              </a:extLst>
            </p:cNvPr>
            <p:cNvCxnSpPr/>
            <p:nvPr/>
          </p:nvCxnSpPr>
          <p:spPr>
            <a:xfrm flipV="1">
              <a:off x="2837775" y="3477914"/>
              <a:ext cx="506227" cy="214845"/>
            </a:xfrm>
            <a:prstGeom prst="straightConnector1">
              <a:avLst/>
            </a:prstGeom>
            <a:ln w="28575">
              <a:solidFill>
                <a:srgbClr val="002060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82868EF-8D1C-3D87-DD4D-9F94CDA5FF3D}"/>
              </a:ext>
            </a:extLst>
          </p:cNvPr>
          <p:cNvGrpSpPr/>
          <p:nvPr/>
        </p:nvGrpSpPr>
        <p:grpSpPr>
          <a:xfrm>
            <a:off x="7078121" y="3336308"/>
            <a:ext cx="472576" cy="124408"/>
            <a:chOff x="7025950" y="5859624"/>
            <a:chExt cx="472576" cy="124408"/>
          </a:xfrm>
        </p:grpSpPr>
        <p:cxnSp>
          <p:nvCxnSpPr>
            <p:cNvPr id="42" name="Straight Arrow Connector 41">
              <a:extLst>
                <a:ext uri="{FF2B5EF4-FFF2-40B4-BE49-F238E27FC236}">
                  <a16:creationId xmlns:a16="http://schemas.microsoft.com/office/drawing/2014/main" id="{27FB6FFB-DF96-D402-36DE-6AEE81EEA6C9}"/>
                </a:ext>
              </a:extLst>
            </p:cNvPr>
            <p:cNvCxnSpPr/>
            <p:nvPr/>
          </p:nvCxnSpPr>
          <p:spPr>
            <a:xfrm>
              <a:off x="7025951" y="5859624"/>
              <a:ext cx="472575" cy="0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>
              <a:extLst>
                <a:ext uri="{FF2B5EF4-FFF2-40B4-BE49-F238E27FC236}">
                  <a16:creationId xmlns:a16="http://schemas.microsoft.com/office/drawing/2014/main" id="{0D22387F-4DB8-F875-070C-103F7771BB89}"/>
                </a:ext>
              </a:extLst>
            </p:cNvPr>
            <p:cNvCxnSpPr/>
            <p:nvPr/>
          </p:nvCxnSpPr>
          <p:spPr>
            <a:xfrm>
              <a:off x="7025950" y="5984032"/>
              <a:ext cx="472575" cy="0"/>
            </a:xfrm>
            <a:prstGeom prst="straightConnector1">
              <a:avLst/>
            </a:prstGeom>
            <a:ln w="28575">
              <a:solidFill>
                <a:srgbClr val="002060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5" name="TextBox 44">
            <a:extLst>
              <a:ext uri="{FF2B5EF4-FFF2-40B4-BE49-F238E27FC236}">
                <a16:creationId xmlns:a16="http://schemas.microsoft.com/office/drawing/2014/main" id="{9E4AF443-8544-01EC-FA88-3985AF796D99}"/>
              </a:ext>
            </a:extLst>
          </p:cNvPr>
          <p:cNvSpPr txBox="1"/>
          <p:nvPr/>
        </p:nvSpPr>
        <p:spPr>
          <a:xfrm>
            <a:off x="8738346" y="1910956"/>
            <a:ext cx="125495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Documents</a:t>
            </a:r>
          </a:p>
        </p:txBody>
      </p:sp>
      <p:sp>
        <p:nvSpPr>
          <p:cNvPr id="49" name="Arrow: Bent 48">
            <a:extLst>
              <a:ext uri="{FF2B5EF4-FFF2-40B4-BE49-F238E27FC236}">
                <a16:creationId xmlns:a16="http://schemas.microsoft.com/office/drawing/2014/main" id="{188CFB84-EAFC-DD03-3BB1-0F8091585254}"/>
              </a:ext>
            </a:extLst>
          </p:cNvPr>
          <p:cNvSpPr/>
          <p:nvPr/>
        </p:nvSpPr>
        <p:spPr>
          <a:xfrm flipV="1">
            <a:off x="5904049" y="4718985"/>
            <a:ext cx="813816" cy="1297957"/>
          </a:xfrm>
          <a:prstGeom prst="bentArrow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189CA806-C3BB-5DED-8267-E29F362EC5A1}"/>
              </a:ext>
            </a:extLst>
          </p:cNvPr>
          <p:cNvSpPr txBox="1"/>
          <p:nvPr/>
        </p:nvSpPr>
        <p:spPr>
          <a:xfrm>
            <a:off x="6975133" y="5143352"/>
            <a:ext cx="6912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Audit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12879D7F-2B74-8617-CAAD-0002F6D24285}"/>
              </a:ext>
            </a:extLst>
          </p:cNvPr>
          <p:cNvSpPr txBox="1"/>
          <p:nvPr/>
        </p:nvSpPr>
        <p:spPr>
          <a:xfrm>
            <a:off x="6999446" y="5513931"/>
            <a:ext cx="60305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FF00"/>
                </a:solidFill>
              </a:rPr>
              <a:t>Logs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26505A90-DE1D-4AD8-0C19-E8010DE92209}"/>
              </a:ext>
            </a:extLst>
          </p:cNvPr>
          <p:cNvSpPr txBox="1"/>
          <p:nvPr/>
        </p:nvSpPr>
        <p:spPr>
          <a:xfrm>
            <a:off x="6993752" y="5883263"/>
            <a:ext cx="7715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75000"/>
                  </a:schemeClr>
                </a:solidFill>
              </a:rPr>
              <a:t>Traces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0642A60F-7210-E1C0-42FF-E9C05DDF6009}"/>
              </a:ext>
            </a:extLst>
          </p:cNvPr>
          <p:cNvSpPr txBox="1"/>
          <p:nvPr/>
        </p:nvSpPr>
        <p:spPr>
          <a:xfrm>
            <a:off x="6993752" y="6252595"/>
            <a:ext cx="8935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Metrics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B2C84FC-7524-EFCF-377F-4EE93BFBBEDF}"/>
              </a:ext>
            </a:extLst>
          </p:cNvPr>
          <p:cNvSpPr txBox="1"/>
          <p:nvPr/>
        </p:nvSpPr>
        <p:spPr>
          <a:xfrm>
            <a:off x="4244456" y="4994335"/>
            <a:ext cx="16324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OpenTelemetry</a:t>
            </a:r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67EFAB94-11D1-8374-BDF6-155EC5477163}"/>
              </a:ext>
            </a:extLst>
          </p:cNvPr>
          <p:cNvSpPr txBox="1"/>
          <p:nvPr/>
        </p:nvSpPr>
        <p:spPr>
          <a:xfrm>
            <a:off x="5041096" y="5975596"/>
            <a:ext cx="153542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Real-Time KQL</a:t>
            </a:r>
          </a:p>
          <a:p>
            <a:r>
              <a:rPr lang="en-US" dirty="0"/>
              <a:t>processing</a:t>
            </a:r>
          </a:p>
        </p:txBody>
      </p:sp>
      <p:grpSp>
        <p:nvGrpSpPr>
          <p:cNvPr id="58" name="Group 57">
            <a:extLst>
              <a:ext uri="{FF2B5EF4-FFF2-40B4-BE49-F238E27FC236}">
                <a16:creationId xmlns:a16="http://schemas.microsoft.com/office/drawing/2014/main" id="{CADDC831-6102-BE0E-2062-7F4C5FAA21EC}"/>
              </a:ext>
            </a:extLst>
          </p:cNvPr>
          <p:cNvGrpSpPr/>
          <p:nvPr/>
        </p:nvGrpSpPr>
        <p:grpSpPr>
          <a:xfrm rot="3278763">
            <a:off x="2775542" y="3856211"/>
            <a:ext cx="565853" cy="319436"/>
            <a:chOff x="2778149" y="3373323"/>
            <a:chExt cx="565853" cy="319436"/>
          </a:xfrm>
        </p:grpSpPr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1A4922DF-8EB8-D77E-AED6-509AD6641DA1}"/>
                </a:ext>
              </a:extLst>
            </p:cNvPr>
            <p:cNvCxnSpPr/>
            <p:nvPr/>
          </p:nvCxnSpPr>
          <p:spPr>
            <a:xfrm flipV="1">
              <a:off x="2778149" y="3373323"/>
              <a:ext cx="506227" cy="214845"/>
            </a:xfrm>
            <a:prstGeom prst="straightConnector1">
              <a:avLst/>
            </a:prstGeom>
            <a:ln w="28575">
              <a:solidFill>
                <a:srgbClr val="00206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8434569E-BF62-4506-47A1-A87000826B13}"/>
                </a:ext>
              </a:extLst>
            </p:cNvPr>
            <p:cNvCxnSpPr/>
            <p:nvPr/>
          </p:nvCxnSpPr>
          <p:spPr>
            <a:xfrm flipV="1">
              <a:off x="2837775" y="3477914"/>
              <a:ext cx="506227" cy="214845"/>
            </a:xfrm>
            <a:prstGeom prst="straightConnector1">
              <a:avLst/>
            </a:prstGeom>
            <a:ln w="28575">
              <a:solidFill>
                <a:srgbClr val="002060"/>
              </a:solidFill>
              <a:prstDash val="sysDash"/>
              <a:headEnd type="triangle" w="med" len="med"/>
              <a:tailEnd type="non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80673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114</Words>
  <Application>Microsoft Office PowerPoint</Application>
  <PresentationFormat>Widescreen</PresentationFormat>
  <Paragraphs>55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Calibri Light</vt:lpstr>
      <vt:lpstr>Office Theme</vt:lpstr>
      <vt:lpstr>1_Office Theme</vt:lpstr>
      <vt:lpstr>OpenTelemetry in C#</vt:lpstr>
      <vt:lpstr>Sample application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Sample application </dc:title>
  <dc:creator>Georgi Chkodrov</dc:creator>
  <cp:lastModifiedBy>Georgi Chkodrov</cp:lastModifiedBy>
  <cp:revision>7</cp:revision>
  <dcterms:created xsi:type="dcterms:W3CDTF">2023-04-09T01:18:27Z</dcterms:created>
  <dcterms:modified xsi:type="dcterms:W3CDTF">2025-02-18T20:28:59Z</dcterms:modified>
</cp:coreProperties>
</file>